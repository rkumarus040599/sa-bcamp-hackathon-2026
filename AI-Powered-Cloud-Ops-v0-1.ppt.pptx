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"/>
      <p:regular r:id="rId14"/>
      <p:bold r:id="rId15"/>
      <p:italic r:id="rId16"/>
      <p:boldItalic r:id="rId17"/>
    </p:embeddedFont>
    <p:embeddedFont>
      <p:font typeface="Jost Light"/>
      <p:regular r:id="rId18"/>
      <p:bold r:id="rId19"/>
      <p:italic r:id="rId20"/>
      <p:boldItalic r:id="rId21"/>
    </p:embeddedFont>
    <p:embeddedFont>
      <p:font typeface="Figtree Light"/>
      <p:regular r:id="rId22"/>
      <p:bold r:id="rId23"/>
      <p:italic r:id="rId24"/>
      <p:boldItalic r:id="rId25"/>
    </p:embeddedFont>
    <p:embeddedFont>
      <p:font typeface="Jo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italic.fntdata"/><Relationship Id="rId22" Type="http://schemas.openxmlformats.org/officeDocument/2006/relationships/font" Target="fonts/FigtreeLight-regular.fntdata"/><Relationship Id="rId21" Type="http://schemas.openxmlformats.org/officeDocument/2006/relationships/font" Target="fonts/JostLight-boldItalic.fntdata"/><Relationship Id="rId24" Type="http://schemas.openxmlformats.org/officeDocument/2006/relationships/font" Target="fonts/FigtreeLight-italic.fntdata"/><Relationship Id="rId23" Type="http://schemas.openxmlformats.org/officeDocument/2006/relationships/font" Target="fonts/Figtree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-regular.fntdata"/><Relationship Id="rId25" Type="http://schemas.openxmlformats.org/officeDocument/2006/relationships/font" Target="fonts/FigtreeLight-boldItalic.fntdata"/><Relationship Id="rId28" Type="http://schemas.openxmlformats.org/officeDocument/2006/relationships/font" Target="fonts/Jost-italic.fntdata"/><Relationship Id="rId27" Type="http://schemas.openxmlformats.org/officeDocument/2006/relationships/font" Target="fonts/Jo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igtree-bold.fntdata"/><Relationship Id="rId14" Type="http://schemas.openxmlformats.org/officeDocument/2006/relationships/font" Target="fonts/Figtree-regular.fntdata"/><Relationship Id="rId17" Type="http://schemas.openxmlformats.org/officeDocument/2006/relationships/font" Target="fonts/Figtree-boldItalic.fntdata"/><Relationship Id="rId16" Type="http://schemas.openxmlformats.org/officeDocument/2006/relationships/font" Target="fonts/Figtree-italic.fntdata"/><Relationship Id="rId19" Type="http://schemas.openxmlformats.org/officeDocument/2006/relationships/font" Target="fonts/JostLight-bold.fntdata"/><Relationship Id="rId18" Type="http://schemas.openxmlformats.org/officeDocument/2006/relationships/font" Target="fonts/Jos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02bb315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02bb315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02bb315b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02bb315b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02bb315b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02bb315b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02bb315b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02bb315b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02bb315b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02bb315b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02bb315b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02bb315b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02bb315b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02bb315b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02bb315ba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02bb315ba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4.jp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AI Powered Cloud Operations Platform</a:t>
            </a:r>
            <a:endParaRPr sz="5000"/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228600" y="3294348"/>
            <a:ext cx="7310400" cy="12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RamaKrishna Vaka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Chakra Yel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Amit Biswas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Pratik Shah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Rajesh Kumar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5" name="Google Shape;445;p49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46" name="Google Shape;446;p49"/>
          <p:cNvSpPr txBox="1"/>
          <p:nvPr>
            <p:ph idx="2" type="title"/>
          </p:nvPr>
        </p:nvSpPr>
        <p:spPr>
          <a:xfrm>
            <a:off x="3154650" y="3487144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7" name="Google Shape;447;p49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VISION</a:t>
            </a:r>
            <a:endParaRPr/>
          </a:p>
        </p:txBody>
      </p:sp>
      <p:sp>
        <p:nvSpPr>
          <p:cNvPr id="448" name="Google Shape;448;p49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9" name="Google Shape;449;p49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450" name="Google Shape;450;p49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51" name="Google Shape;451;p49"/>
          <p:cNvSpPr txBox="1"/>
          <p:nvPr>
            <p:ph idx="7" type="title"/>
          </p:nvPr>
        </p:nvSpPr>
        <p:spPr>
          <a:xfrm>
            <a:off x="3809850" y="25994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452" name="Google Shape;452;p49"/>
          <p:cNvSpPr txBox="1"/>
          <p:nvPr>
            <p:ph idx="8" type="title"/>
          </p:nvPr>
        </p:nvSpPr>
        <p:spPr>
          <a:xfrm>
            <a:off x="3809850" y="3043269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53" name="Google Shape;453;p49"/>
          <p:cNvSpPr txBox="1"/>
          <p:nvPr>
            <p:ph idx="9" type="title"/>
          </p:nvPr>
        </p:nvSpPr>
        <p:spPr>
          <a:xfrm>
            <a:off x="3809850" y="3487144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Q and A</a:t>
            </a:r>
            <a:endParaRPr/>
          </a:p>
        </p:txBody>
      </p:sp>
      <p:sp>
        <p:nvSpPr>
          <p:cNvPr id="454" name="Google Shape;454;p49"/>
          <p:cNvSpPr txBox="1"/>
          <p:nvPr>
            <p:ph idx="13" type="title"/>
          </p:nvPr>
        </p:nvSpPr>
        <p:spPr>
          <a:xfrm>
            <a:off x="3154650" y="30436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5" name="Google Shape;455;p49"/>
          <p:cNvSpPr txBox="1"/>
          <p:nvPr>
            <p:ph idx="14" type="title"/>
          </p:nvPr>
        </p:nvSpPr>
        <p:spPr>
          <a:xfrm>
            <a:off x="3154650" y="2600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6" name="Google Shape;456;p49"/>
          <p:cNvSpPr txBox="1"/>
          <p:nvPr>
            <p:ph idx="15" type="title"/>
          </p:nvPr>
        </p:nvSpPr>
        <p:spPr>
          <a:xfrm>
            <a:off x="3154650" y="2156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7" name="Google Shape;457;p49"/>
          <p:cNvSpPr txBox="1"/>
          <p:nvPr>
            <p:ph idx="16" type="title"/>
          </p:nvPr>
        </p:nvSpPr>
        <p:spPr>
          <a:xfrm>
            <a:off x="3154650" y="1713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8" name="Google Shape;458;p49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/>
          <p:nvPr/>
        </p:nvSpPr>
        <p:spPr>
          <a:xfrm>
            <a:off x="5222400" y="1192950"/>
            <a:ext cx="1288500" cy="30408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6918900" y="1264750"/>
            <a:ext cx="1421400" cy="29691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3454400" y="1192950"/>
            <a:ext cx="1287900" cy="30408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1783825" y="1253100"/>
            <a:ext cx="1288500" cy="29691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256975" y="1313225"/>
            <a:ext cx="1287900" cy="29205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8" name="Google Shape;468;p50"/>
          <p:cNvSpPr txBox="1"/>
          <p:nvPr>
            <p:ph idx="6" type="title"/>
          </p:nvPr>
        </p:nvSpPr>
        <p:spPr>
          <a:xfrm>
            <a:off x="1815465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Chakra Yel</a:t>
            </a:r>
            <a:endParaRPr/>
          </a:p>
        </p:txBody>
      </p:sp>
      <p:sp>
        <p:nvSpPr>
          <p:cNvPr id="469" name="Google Shape;469;p50"/>
          <p:cNvSpPr txBox="1"/>
          <p:nvPr>
            <p:ph idx="8" type="title"/>
          </p:nvPr>
        </p:nvSpPr>
        <p:spPr>
          <a:xfrm>
            <a:off x="3550582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Amit Biswas</a:t>
            </a:r>
            <a:endParaRPr/>
          </a:p>
        </p:txBody>
      </p:sp>
      <p:sp>
        <p:nvSpPr>
          <p:cNvPr id="470" name="Google Shape;470;p50"/>
          <p:cNvSpPr txBox="1"/>
          <p:nvPr>
            <p:ph idx="13" type="title"/>
          </p:nvPr>
        </p:nvSpPr>
        <p:spPr>
          <a:xfrm>
            <a:off x="5325848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:Pratik Shah</a:t>
            </a:r>
            <a:endParaRPr/>
          </a:p>
        </p:txBody>
      </p:sp>
      <p:sp>
        <p:nvSpPr>
          <p:cNvPr id="471" name="Google Shape;471;p50"/>
          <p:cNvSpPr txBox="1"/>
          <p:nvPr>
            <p:ph idx="15" type="title"/>
          </p:nvPr>
        </p:nvSpPr>
        <p:spPr>
          <a:xfrm>
            <a:off x="7101121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Rajesh Kumar</a:t>
            </a:r>
            <a:endParaRPr/>
          </a:p>
        </p:txBody>
      </p:sp>
      <p:sp>
        <p:nvSpPr>
          <p:cNvPr id="472" name="Google Shape;472;p50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473" name="Google Shape;473;p50"/>
          <p:cNvSpPr txBox="1"/>
          <p:nvPr>
            <p:ph idx="4" type="title"/>
          </p:nvPr>
        </p:nvSpPr>
        <p:spPr>
          <a:xfrm>
            <a:off x="288325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Ramakrishna Vaka</a:t>
            </a:r>
            <a:endParaRPr/>
          </a:p>
        </p:txBody>
      </p:sp>
      <p:sp>
        <p:nvSpPr>
          <p:cNvPr id="474" name="Google Shape;474;p5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475" name="Google Shape;475;p5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pic>
        <p:nvPicPr>
          <p:cNvPr id="476" name="Google Shape;476;p50" title="chakra-l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825" y="1258100"/>
            <a:ext cx="1288500" cy="15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 title="pratik-li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925" y="1192950"/>
            <a:ext cx="1367852" cy="16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 title="prk-li-v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850" y="1265000"/>
            <a:ext cx="1444060" cy="1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275" y="1298275"/>
            <a:ext cx="1288500" cy="15422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</p:pic>
      <p:sp>
        <p:nvSpPr>
          <p:cNvPr id="480" name="Google Shape;480;p50"/>
          <p:cNvSpPr txBox="1"/>
          <p:nvPr>
            <p:ph idx="4" type="title"/>
          </p:nvPr>
        </p:nvSpPr>
        <p:spPr>
          <a:xfrm>
            <a:off x="299925" y="3618500"/>
            <a:ext cx="1225200" cy="615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Solutions Architect, State of Michigan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86" name="Google Shape;486;p5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7" name="Google Shape;487;p51"/>
          <p:cNvSpPr txBox="1"/>
          <p:nvPr>
            <p:ph idx="1" type="subTitle"/>
          </p:nvPr>
        </p:nvSpPr>
        <p:spPr>
          <a:xfrm>
            <a:off x="228600" y="3052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88" name="Google Shape;488;p51"/>
          <p:cNvSpPr txBox="1"/>
          <p:nvPr>
            <p:ph idx="3" type="title"/>
          </p:nvPr>
        </p:nvSpPr>
        <p:spPr>
          <a:xfrm>
            <a:off x="170550" y="683575"/>
            <a:ext cx="7091700" cy="43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environments generate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thousands of operational alerts daily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CPU alerts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Lambda failures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violations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spikes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Infrastructure drift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organizations still rely on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 triage by DevOps/SRE teams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which causes: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Slow incident resolution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 fatigue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errors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👉 We need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 cloud operations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that can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detect, analyze, and remediate issues automatically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94" name="Google Shape;494;p52"/>
          <p:cNvSpPr txBox="1"/>
          <p:nvPr>
            <p:ph idx="4294967295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5" name="Google Shape;495;p52"/>
          <p:cNvSpPr txBox="1"/>
          <p:nvPr>
            <p:ph idx="2" type="title"/>
          </p:nvPr>
        </p:nvSpPr>
        <p:spPr>
          <a:xfrm>
            <a:off x="228600" y="29505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496" name="Google Shape;496;p52"/>
          <p:cNvSpPr txBox="1"/>
          <p:nvPr>
            <p:ph idx="1" type="subTitle"/>
          </p:nvPr>
        </p:nvSpPr>
        <p:spPr>
          <a:xfrm>
            <a:off x="249300" y="759750"/>
            <a:ext cx="5828400" cy="328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an </a:t>
            </a: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Cloud Operations Platform 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that can: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 operational events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Analyze root cause using AI reasoning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 remediation action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Execute automated fix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Notify engineers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creates a </a:t>
            </a: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self-healing cloud system and generic solution which can be used across all organizations.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idx="3" type="title"/>
          </p:nvPr>
        </p:nvSpPr>
        <p:spPr>
          <a:xfrm>
            <a:off x="217050" y="116750"/>
            <a:ext cx="4160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502" name="Google Shape;50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75" y="544050"/>
            <a:ext cx="8405299" cy="44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idx="17" type="title"/>
          </p:nvPr>
        </p:nvSpPr>
        <p:spPr>
          <a:xfrm>
            <a:off x="228600" y="183050"/>
            <a:ext cx="4160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Demo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8" name="Google Shape;508;p54"/>
          <p:cNvSpPr txBox="1"/>
          <p:nvPr/>
        </p:nvSpPr>
        <p:spPr>
          <a:xfrm>
            <a:off x="269550" y="632250"/>
            <a:ext cx="6920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CloudWatch Alarm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EventBridge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Event Router Lambda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AI Agent Layer(Amazon Bedrock RAG)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AWS Step Functions (Remediation Layer)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Knowledge Base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Monitoring &amp; Dashboard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14" name="Google Shape;514;p5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15" name="Google Shape;515;p55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16" name="Google Shape;516;p55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